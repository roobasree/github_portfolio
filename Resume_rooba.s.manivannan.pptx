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13"/>
    <p:restoredTop sz="94709"/>
  </p:normalViewPr>
  <p:slideViewPr>
    <p:cSldViewPr>
      <p:cViewPr varScale="1">
        <p:scale>
          <a:sx n="126" d="100"/>
          <a:sy n="126" d="100"/>
        </p:scale>
        <p:origin x="296" y="4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2D412-CF7D-4010-A6BB-4E806A7C4161}" type="datetimeFigureOut">
              <a:rPr lang="en-US" smtClean="0"/>
              <a:pPr/>
              <a:t>3/27/26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9811C2-CFF5-4941-85B0-AB42B15E51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82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811C2-CFF5-4941-85B0-AB42B15E51A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46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8E24-2462-4A1D-87ED-03BE49F8C6C7}" type="datetimeFigureOut">
              <a:rPr lang="en-US" smtClean="0"/>
              <a:pPr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F4A03-B901-4810-8DB1-A492B19E40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403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8E24-2462-4A1D-87ED-03BE49F8C6C7}" type="datetimeFigureOut">
              <a:rPr lang="en-US" smtClean="0"/>
              <a:pPr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F4A03-B901-4810-8DB1-A492B19E40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052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8E24-2462-4A1D-87ED-03BE49F8C6C7}" type="datetimeFigureOut">
              <a:rPr lang="en-US" smtClean="0"/>
              <a:pPr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F4A03-B901-4810-8DB1-A492B19E40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57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8E24-2462-4A1D-87ED-03BE49F8C6C7}" type="datetimeFigureOut">
              <a:rPr lang="en-US" smtClean="0"/>
              <a:pPr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F4A03-B901-4810-8DB1-A492B19E40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714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8E24-2462-4A1D-87ED-03BE49F8C6C7}" type="datetimeFigureOut">
              <a:rPr lang="en-US" smtClean="0"/>
              <a:pPr/>
              <a:t>3/27/26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F4A03-B901-4810-8DB1-A492B19E40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657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8E24-2462-4A1D-87ED-03BE49F8C6C7}" type="datetimeFigureOut">
              <a:rPr lang="en-US" smtClean="0"/>
              <a:pPr/>
              <a:t>3/27/26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F4A03-B901-4810-8DB1-A492B19E40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644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8E24-2462-4A1D-87ED-03BE49F8C6C7}" type="datetimeFigureOut">
              <a:rPr lang="en-US" smtClean="0"/>
              <a:pPr/>
              <a:t>3/27/26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F4A03-B901-4810-8DB1-A492B19E40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49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8E24-2462-4A1D-87ED-03BE49F8C6C7}" type="datetimeFigureOut">
              <a:rPr lang="en-US" smtClean="0"/>
              <a:pPr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F4A03-B901-4810-8DB1-A492B19E40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814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8E24-2462-4A1D-87ED-03BE49F8C6C7}" type="datetimeFigureOut">
              <a:rPr lang="en-US" smtClean="0"/>
              <a:pPr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F4A03-B901-4810-8DB1-A492B19E40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196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8E24-2462-4A1D-87ED-03BE49F8C6C7}" type="datetimeFigureOut">
              <a:rPr lang="en-US" smtClean="0"/>
              <a:pPr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F4A03-B901-4810-8DB1-A492B19E40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07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8E24-2462-4A1D-87ED-03BE49F8C6C7}" type="datetimeFigureOut">
              <a:rPr lang="en-US" smtClean="0"/>
              <a:pPr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F4A03-B901-4810-8DB1-A492B19E40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81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58E24-2462-4A1D-87ED-03BE49F8C6C7}" type="datetimeFigureOut">
              <a:rPr lang="en-US" smtClean="0"/>
              <a:pPr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F4A03-B901-4810-8DB1-A492B19E40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89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4273366" y="3757147"/>
            <a:ext cx="4729209" cy="2743029"/>
          </a:xfrm>
          <a:prstGeom prst="rect">
            <a:avLst/>
          </a:prstGeom>
          <a:solidFill>
            <a:srgbClr val="FFFFFF"/>
          </a:solidFill>
          <a:ln w="3175">
            <a:solidFill>
              <a:srgbClr val="C0C0C0"/>
            </a:solidFill>
            <a:miter lim="800000"/>
            <a:headEnd/>
            <a:tailEnd/>
          </a:ln>
        </p:spPr>
        <p:txBody>
          <a:bodyPr wrap="square" lIns="72000" tIns="360000" rIns="0" anchor="t" anchorCtr="0"/>
          <a:lstStyle/>
          <a:p>
            <a:r>
              <a:rPr lang="en-US" sz="1000" b="1" dirty="0">
                <a:latin typeface="Times New Roman" pitchFamily="18" charset="0"/>
                <a:cs typeface="Times New Roman" pitchFamily="18" charset="0"/>
              </a:rPr>
              <a:t>Samsung ATCI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Worked on migrating JSP-based UI to Spartacus for dynamic forms and overall site UI.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Implemented short code fields in profile and checkout flows in compliance with Saudi government regulations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Handled UI styling and improved web accessibility by addressing audit items, including ARIA labels and MDC external properties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Enabled features using backend APIs and BackOffice configurations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Worked on email UI  and localized email UI using Impex, and resolved related regression issues.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Resolved environment-related issues in SAP Commerce Cloud tools, including BackOffice (BO) and HAC (Hybris Administration Console)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Created login and registration pages using Impex and migrated them from JSP to Spartacus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Implemented rewards user popup functionality, including component development, configuration services, and API integration using interceptors.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defTabSz="911225">
              <a:spcBef>
                <a:spcPct val="0"/>
              </a:spcBef>
              <a:buSzPct val="90000"/>
            </a:pPr>
            <a:endParaRPr lang="en-US" sz="1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4256055" y="3541987"/>
            <a:ext cx="4708469" cy="215159"/>
          </a:xfrm>
          <a:prstGeom prst="rect">
            <a:avLst/>
          </a:prstGeom>
          <a:solidFill>
            <a:schemeClr val="tx2"/>
          </a:solidFill>
          <a:ln w="3175" algn="ctr">
            <a:noFill/>
            <a:miter lim="800000"/>
            <a:headEnd/>
            <a:tailEnd/>
          </a:ln>
        </p:spPr>
        <p:txBody>
          <a:bodyPr lIns="0" tIns="36000" rIns="0" bIns="36000" anchor="ctr"/>
          <a:lstStyle/>
          <a:p>
            <a:pPr marL="195263" indent="-195263"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99CC"/>
              </a:buClr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rial" charset="0"/>
              </a:rPr>
              <a:t>Relevant Projects</a:t>
            </a:r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157842" y="542801"/>
            <a:ext cx="4072184" cy="96170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3175">
            <a:noFill/>
            <a:miter lim="800000"/>
            <a:headEnd/>
            <a:tailEnd/>
          </a:ln>
        </p:spPr>
        <p:txBody>
          <a:bodyPr wrap="none" anchor="ctr"/>
          <a:lstStyle/>
          <a:p>
            <a:pPr lvl="3"/>
            <a:r>
              <a:rPr lang="en-GB" sz="1600" b="1" dirty="0"/>
              <a:t>Rooba Sree</a:t>
            </a:r>
            <a:endParaRPr lang="en-GB" b="1" dirty="0"/>
          </a:p>
          <a:p>
            <a:pPr lvl="3"/>
            <a:r>
              <a:rPr lang="en-IN" sz="1200" dirty="0">
                <a:solidFill>
                  <a:prstClr val="black"/>
                </a:solidFill>
              </a:rPr>
              <a:t>Package App Development Associate</a:t>
            </a:r>
          </a:p>
          <a:p>
            <a:pPr lvl="3"/>
            <a:r>
              <a:rPr lang="en-US" sz="1200" dirty="0">
                <a:solidFill>
                  <a:prstClr val="black"/>
                </a:solidFill>
              </a:rPr>
              <a:t>Level: 12</a:t>
            </a:r>
          </a:p>
          <a:p>
            <a:pPr lvl="3"/>
            <a:r>
              <a:rPr lang="de-DE" sz="1050" b="1" dirty="0">
                <a:solidFill>
                  <a:prstClr val="black"/>
                </a:solidFill>
              </a:rPr>
              <a:t>Email: </a:t>
            </a:r>
            <a:r>
              <a:rPr lang="de-DE" sz="1050" b="1" dirty="0" err="1">
                <a:solidFill>
                  <a:prstClr val="black"/>
                </a:solidFill>
              </a:rPr>
              <a:t>rooba</a:t>
            </a:r>
            <a:r>
              <a:rPr lang="en-US" sz="1050" b="1" dirty="0">
                <a:solidFill>
                  <a:prstClr val="black"/>
                </a:solidFill>
              </a:rPr>
              <a:t>.</a:t>
            </a:r>
            <a:r>
              <a:rPr lang="en-US" sz="1050" b="1" dirty="0" err="1">
                <a:solidFill>
                  <a:prstClr val="black"/>
                </a:solidFill>
              </a:rPr>
              <a:t>s.manivannan@accenture.com</a:t>
            </a:r>
            <a:endParaRPr lang="en-US" sz="1050" dirty="0">
              <a:solidFill>
                <a:prstClr val="black"/>
              </a:solidFill>
            </a:endParaRPr>
          </a:p>
        </p:txBody>
      </p:sp>
      <p:sp>
        <p:nvSpPr>
          <p:cNvPr id="25" name="Text Placeholder 1"/>
          <p:cNvSpPr txBox="1">
            <a:spLocks/>
          </p:cNvSpPr>
          <p:nvPr/>
        </p:nvSpPr>
        <p:spPr>
          <a:xfrm>
            <a:off x="468313" y="685972"/>
            <a:ext cx="8207375" cy="386054"/>
          </a:xfrm>
          <a:prstGeom prst="rect">
            <a:avLst/>
          </a:prstGeom>
        </p:spPr>
        <p:txBody>
          <a:bodyPr wrap="square" lIns="0" tIns="72000" rIns="0" bIns="36000">
            <a:noAutofit/>
          </a:bodyPr>
          <a:lstStyle>
            <a:lvl1pPr marL="174625" indent="-174625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de-DE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3538" indent="-188913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charset="0"/>
              <a:buChar char="–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8163" indent="-174625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2788" indent="-174625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charset="0"/>
              <a:buChar char="–"/>
              <a:defRPr lang="de-DE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1700" indent="-188913" algn="l" rtl="0" eaLnBrk="0" fontAlgn="base" hangingPunct="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AU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endParaRPr lang="en-GB" sz="1800" b="1">
              <a:solidFill>
                <a:srgbClr val="66AA44"/>
              </a:solidFill>
            </a:endParaRPr>
          </a:p>
        </p:txBody>
      </p:sp>
      <p:sp>
        <p:nvSpPr>
          <p:cNvPr id="26" name="Rectangle 3"/>
          <p:cNvSpPr>
            <a:spLocks noChangeArrowheads="1"/>
          </p:cNvSpPr>
          <p:nvPr/>
        </p:nvSpPr>
        <p:spPr bwMode="auto">
          <a:xfrm>
            <a:off x="179476" y="1538529"/>
            <a:ext cx="4050550" cy="3316391"/>
          </a:xfrm>
          <a:prstGeom prst="rect">
            <a:avLst/>
          </a:prstGeom>
          <a:solidFill>
            <a:srgbClr val="FFFFFF"/>
          </a:solidFill>
          <a:ln w="3175">
            <a:solidFill>
              <a:srgbClr val="C0C0C0"/>
            </a:solidFill>
            <a:miter lim="800000"/>
            <a:headEnd/>
            <a:tailEnd/>
          </a:ln>
        </p:spPr>
        <p:txBody>
          <a:bodyPr wrap="square" lIns="36000" tIns="360000" rIns="36000" anchor="t" anchorCtr="0"/>
          <a:lstStyle/>
          <a:p>
            <a:r>
              <a:rPr lang="en-US" sz="1000" dirty="0"/>
              <a:t>Here’s a polished and professional version of your summary:</a:t>
            </a:r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I am an Associate Software Engineer with 1+ year of experience in frontend development, specializing in Angular (Spartacus) and the MEAN stack. Proficient in TypeScript, JavaScript, HTML5, CSS3, and SCSS, with hands-on experience building responsive UI components and integrating REST APIs.</a:t>
            </a:r>
          </a:p>
          <a:p>
            <a:endParaRPr lang="en-US" sz="1000" dirty="0"/>
          </a:p>
          <a:p>
            <a:r>
              <a:rPr lang="en-US" sz="1000" dirty="0"/>
              <a:t>Experienced in SAP Commerce Cloud (Hybris) projects for Samsung, contributing to e-commerce platform development and enhancements across profile, cart, and checkout flows. Skilled in developing configuration-driven UI using Impex and supporting large-scale migration from JSP to Spartacus, including regression handling.</a:t>
            </a:r>
          </a:p>
          <a:p>
            <a:endParaRPr lang="en-US" sz="1000" dirty="0"/>
          </a:p>
          <a:p>
            <a:r>
              <a:rPr lang="en-US" sz="1000" dirty="0"/>
              <a:t>Strong understanding of component-based architecture, </a:t>
            </a:r>
            <a:r>
              <a:rPr lang="en-US" sz="1000" dirty="0" err="1"/>
              <a:t>RxJS</a:t>
            </a:r>
            <a:r>
              <a:rPr lang="en-US" sz="1000" dirty="0"/>
              <a:t>, and scalable frontend design principles. Seeking opportunities to contribute to high-quality, scalable e-commerce applications while continuously enhancing technical expertise.</a:t>
            </a:r>
          </a:p>
          <a:p>
            <a:pPr>
              <a:spcBef>
                <a:spcPct val="30000"/>
              </a:spcBef>
              <a:buSzPct val="100000"/>
            </a:pPr>
            <a:endParaRPr lang="de-DE" altLang="zh-MO" sz="1000" dirty="0">
              <a:cs typeface="Times New Roman" pitchFamily="18" charset="0"/>
            </a:endParaRPr>
          </a:p>
        </p:txBody>
      </p:sp>
      <p:sp>
        <p:nvSpPr>
          <p:cNvPr id="27" name="Rectangle 10"/>
          <p:cNvSpPr>
            <a:spLocks noChangeArrowheads="1"/>
          </p:cNvSpPr>
          <p:nvPr/>
        </p:nvSpPr>
        <p:spPr bwMode="auto">
          <a:xfrm>
            <a:off x="169226" y="1588664"/>
            <a:ext cx="4038308" cy="184152"/>
          </a:xfrm>
          <a:prstGeom prst="rect">
            <a:avLst/>
          </a:prstGeom>
          <a:solidFill>
            <a:schemeClr val="tx2"/>
          </a:solidFill>
          <a:ln w="3175" algn="ctr">
            <a:noFill/>
            <a:miter lim="800000"/>
            <a:headEnd/>
            <a:tailEnd/>
          </a:ln>
        </p:spPr>
        <p:txBody>
          <a:bodyPr lIns="0" tIns="36000" rIns="0" bIns="36000" anchor="ctr"/>
          <a:lstStyle/>
          <a:p>
            <a:pPr marL="195263" indent="-195263"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99CC"/>
              </a:buClr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rial" charset="0"/>
              </a:rPr>
              <a:t>Background</a:t>
            </a: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107504" y="7482"/>
            <a:ext cx="8617986" cy="535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/>
              <a:t>Rooba Sree </a:t>
            </a:r>
            <a:endParaRPr lang="en-US" sz="1100" b="1" dirty="0"/>
          </a:p>
          <a:p>
            <a:pPr algn="l"/>
            <a:r>
              <a:rPr lang="en-US" sz="1100" b="1" dirty="0"/>
              <a:t>Total Experience: Experience @ Accenture: 1Years,5 Months  </a:t>
            </a:r>
            <a:endParaRPr lang="en-US" sz="2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98E7E6-ED53-4862-BCDC-843AE170CB96}"/>
              </a:ext>
            </a:extLst>
          </p:cNvPr>
          <p:cNvSpPr txBox="1">
            <a:spLocks/>
          </p:cNvSpPr>
          <p:nvPr/>
        </p:nvSpPr>
        <p:spPr>
          <a:xfrm>
            <a:off x="166368" y="5019771"/>
            <a:ext cx="4041166" cy="1480405"/>
          </a:xfrm>
          <a:prstGeom prst="rect">
            <a:avLst/>
          </a:prstGeom>
          <a:solidFill>
            <a:srgbClr val="FFFFFF"/>
          </a:solidFill>
          <a:ln w="3175"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marL="171450" indent="-171450">
              <a:spcBef>
                <a:spcPct val="30000"/>
              </a:spcBef>
              <a:buSzPct val="100000"/>
              <a:buFont typeface="Arial" panose="020B0604020202020204" pitchFamily="34" charset="0"/>
              <a:buChar char="•"/>
            </a:pPr>
            <a:endParaRPr lang="en-US" sz="1100" b="1" dirty="0"/>
          </a:p>
          <a:p>
            <a:pPr marL="171450" indent="-171450">
              <a:spcBef>
                <a:spcPct val="30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100" b="1" dirty="0" err="1"/>
              <a:t>TechGenic</a:t>
            </a:r>
            <a:r>
              <a:rPr lang="en-US" sz="1100" b="1" dirty="0"/>
              <a:t> MEAN Stack training</a:t>
            </a:r>
            <a:r>
              <a:rPr lang="en-US" sz="1100" dirty="0"/>
              <a:t> at Accenture</a:t>
            </a:r>
          </a:p>
          <a:p>
            <a:pPr marL="171450" indent="-171450">
              <a:spcBef>
                <a:spcPct val="30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100" dirty="0"/>
              <a:t>Continuously upskilling in </a:t>
            </a:r>
            <a:r>
              <a:rPr lang="en-US" sz="1100" b="1" dirty="0"/>
              <a:t>Angular and scalable frontend architecture.</a:t>
            </a:r>
          </a:p>
          <a:p>
            <a:pPr marL="171450" indent="-171450">
              <a:spcBef>
                <a:spcPct val="30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100" dirty="0" err="1"/>
              <a:t>Techleap</a:t>
            </a:r>
            <a:r>
              <a:rPr lang="en-US" sz="1100" dirty="0"/>
              <a:t> - Application Engineering School – MEAN</a:t>
            </a:r>
          </a:p>
          <a:p>
            <a:pPr marL="171450" indent="-171450">
              <a:spcBef>
                <a:spcPct val="30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100" dirty="0"/>
              <a:t>Agentic AI Course</a:t>
            </a:r>
            <a:br>
              <a:rPr lang="en-US" sz="1100" dirty="0"/>
            </a:br>
            <a:endParaRPr lang="en-US" altLang="zh-MO" sz="1100" b="1" dirty="0">
              <a:cs typeface="Times New Roman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19F358-AD00-4336-926C-AEBBD894442F}"/>
              </a:ext>
            </a:extLst>
          </p:cNvPr>
          <p:cNvSpPr txBox="1"/>
          <p:nvPr/>
        </p:nvSpPr>
        <p:spPr>
          <a:xfrm>
            <a:off x="4256949" y="1314452"/>
            <a:ext cx="4729209" cy="2215991"/>
          </a:xfrm>
          <a:prstGeom prst="rect">
            <a:avLst/>
          </a:prstGeom>
          <a:solidFill>
            <a:srgbClr val="FFFFFF"/>
          </a:solidFill>
          <a:ln w="3175"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spcBef>
                <a:spcPct val="30000"/>
              </a:spcBef>
              <a:buSzPct val="100000"/>
              <a:buFont typeface="Wingdings" panose="05000000000000000000" pitchFamily="2" charset="2"/>
              <a:buChar char="§"/>
              <a:defRPr sz="1100" b="1"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sz="1000" b="0" dirty="0"/>
              <a:t>Hands-on experience developing Angular (Spartacus) frontend applications within SAP Commerce Cloud (Hybris)</a:t>
            </a:r>
          </a:p>
          <a:p>
            <a:r>
              <a:rPr lang="en-US" sz="1000" b="0" dirty="0"/>
              <a:t>Strong expertise in e-commerce frontend development, including cart, checkout, and profile flows</a:t>
            </a:r>
          </a:p>
          <a:p>
            <a:r>
              <a:rPr lang="en-US" sz="1000" b="0" dirty="0"/>
              <a:t>Proficient in Angular, TypeScript, JavaScript, HTML5, CSS3, SCSS, and Spartacus Dynamic Forms</a:t>
            </a:r>
          </a:p>
          <a:p>
            <a:r>
              <a:rPr lang="en-US" sz="1000" b="0" dirty="0"/>
              <a:t>Experienced in REST API integration and handling backend-driven data flows</a:t>
            </a:r>
          </a:p>
          <a:p>
            <a:r>
              <a:rPr lang="en-US" sz="1000" b="0" dirty="0"/>
              <a:t>Solid understanding of component-based architecture, separation of concerns, and scalable frontend design principles</a:t>
            </a:r>
          </a:p>
          <a:p>
            <a:r>
              <a:rPr lang="en-US" sz="1000" b="0" dirty="0"/>
              <a:t>Skilled in debugging production issues and managing regressions across multiple environments</a:t>
            </a:r>
          </a:p>
          <a:p>
            <a:r>
              <a:rPr lang="en-US" sz="1000" b="0" dirty="0"/>
              <a:t>Gained working knowledge of the MEAN stack </a:t>
            </a:r>
          </a:p>
        </p:txBody>
      </p:sp>
      <p:sp>
        <p:nvSpPr>
          <p:cNvPr id="29" name="Rectangle 10">
            <a:extLst>
              <a:ext uri="{FF2B5EF4-FFF2-40B4-BE49-F238E27FC236}">
                <a16:creationId xmlns:a16="http://schemas.microsoft.com/office/drawing/2014/main" id="{55E9048D-3C37-428D-915C-A421DE548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3366" y="1145897"/>
            <a:ext cx="4701408" cy="168555"/>
          </a:xfrm>
          <a:prstGeom prst="rect">
            <a:avLst/>
          </a:prstGeom>
          <a:solidFill>
            <a:schemeClr val="tx2"/>
          </a:solidFill>
          <a:ln w="3175" algn="ctr">
            <a:noFill/>
            <a:miter lim="800000"/>
            <a:headEnd/>
            <a:tailEnd/>
          </a:ln>
        </p:spPr>
        <p:txBody>
          <a:bodyPr lIns="0" tIns="36000" rIns="0" bIns="36000" anchor="ctr"/>
          <a:lstStyle/>
          <a:p>
            <a:pPr marL="195263" indent="-195263"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99CC"/>
              </a:buClr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rial" charset="0"/>
              </a:rPr>
              <a:t>Expertise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ED65B6-DF4C-4726-860B-460435225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909" y="29782"/>
            <a:ext cx="420249" cy="440502"/>
          </a:xfrm>
          <a:prstGeom prst="rect">
            <a:avLst/>
          </a:prstGeom>
        </p:spPr>
      </p:pic>
      <p:sp>
        <p:nvSpPr>
          <p:cNvPr id="17" name="Rectangle 10">
            <a:extLst>
              <a:ext uri="{FF2B5EF4-FFF2-40B4-BE49-F238E27FC236}">
                <a16:creationId xmlns:a16="http://schemas.microsoft.com/office/drawing/2014/main" id="{1B4B8B00-DCFA-461C-B9F5-4204C6CBA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732" y="4854920"/>
            <a:ext cx="4041166" cy="159724"/>
          </a:xfrm>
          <a:prstGeom prst="rect">
            <a:avLst/>
          </a:prstGeom>
          <a:solidFill>
            <a:schemeClr val="tx2"/>
          </a:solidFill>
          <a:ln w="3175" algn="ctr">
            <a:noFill/>
            <a:miter lim="800000"/>
            <a:headEnd/>
            <a:tailEnd/>
          </a:ln>
        </p:spPr>
        <p:txBody>
          <a:bodyPr lIns="0" tIns="36000" rIns="0" bIns="36000" anchor="ctr"/>
          <a:lstStyle/>
          <a:p>
            <a:pPr marL="195263" indent="-195263"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99CC"/>
              </a:buClr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rial" charset="0"/>
              </a:rPr>
              <a:t>Training &amp; Certification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2E857B-DAED-ECC5-2FAB-E74A37AC84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10" y="542801"/>
            <a:ext cx="913130" cy="93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578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1056</TotalTime>
  <Words>430</Words>
  <Application>Microsoft Macintosh PowerPoint</Application>
  <PresentationFormat>On-screen Show (4:3)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subhajit kundu</dc:creator>
  <cp:lastModifiedBy>Manivannan, Rooba Sree</cp:lastModifiedBy>
  <cp:revision>155</cp:revision>
  <dcterms:created xsi:type="dcterms:W3CDTF">2014-11-19T13:56:36Z</dcterms:created>
  <dcterms:modified xsi:type="dcterms:W3CDTF">2026-03-27T07:04:25Z</dcterms:modified>
</cp:coreProperties>
</file>